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3"/>
  </p:sldMasterIdLst>
  <p:notesMasterIdLst>
    <p:notesMasterId r:id="rId15"/>
  </p:notesMasterIdLst>
  <p:sldIdLst>
    <p:sldId id="256" r:id="rId4"/>
    <p:sldId id="1737" r:id="rId5"/>
    <p:sldId id="1208" r:id="rId6"/>
    <p:sldId id="1746" r:id="rId7"/>
    <p:sldId id="1748" r:id="rId8"/>
    <p:sldId id="1756" r:id="rId9"/>
    <p:sldId id="1757" r:id="rId10"/>
    <p:sldId id="1760" r:id="rId11"/>
    <p:sldId id="1761" r:id="rId12"/>
    <p:sldId id="1762" r:id="rId13"/>
    <p:sldId id="125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3246"/>
    <a:srgbClr val="F2F2F2"/>
    <a:srgbClr val="E77B4C"/>
    <a:srgbClr val="3CA8EF"/>
    <a:srgbClr val="FF003C"/>
    <a:srgbClr val="365597"/>
    <a:srgbClr val="256696"/>
    <a:srgbClr val="2DA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1" autoAdjust="0"/>
    <p:restoredTop sz="94674"/>
  </p:normalViewPr>
  <p:slideViewPr>
    <p:cSldViewPr snapToGrid="0" snapToObjects="1">
      <p:cViewPr varScale="1">
        <p:scale>
          <a:sx n="78" d="100"/>
          <a:sy n="78" d="100"/>
        </p:scale>
        <p:origin x="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DBC54-1D89-B84B-9D35-FE10262775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68E5-24DE-0240-BD7B-92A7369D5B1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C2B89-ECEC-7448-B53D-84518325FB0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CE10E-F164-1A4D-9A06-8B3BCF453B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"/>
            <a:ext cx="12180969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29154" y="2618647"/>
            <a:ext cx="457200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CRM</a:t>
            </a:r>
            <a:r>
              <a:rPr kumimoji="1"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权限体系</a:t>
            </a:r>
            <a:endParaRPr kumimoji="1" lang="zh-CN" altLang="en-US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kumimoji="1" lang="en-US" altLang="zh-CN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</a:t>
            </a:r>
            <a:endParaRPr kumimoji="1" lang="en-US" altLang="zh-CN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949" y="1675640"/>
            <a:ext cx="2116182" cy="650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8"/>
          <p:cNvSpPr txBox="1"/>
          <p:nvPr/>
        </p:nvSpPr>
        <p:spPr>
          <a:xfrm>
            <a:off x="3098165" y="1982470"/>
            <a:ext cx="5466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1"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CRM</a:t>
            </a:r>
            <a:r>
              <a: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权限体系</a:t>
            </a:r>
            <a:endParaRPr kumimoji="1"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cxnSp>
        <p:nvCxnSpPr>
          <p:cNvPr id="16" name="直接连接符 3"/>
          <p:cNvCxnSpPr/>
          <p:nvPr/>
        </p:nvCxnSpPr>
        <p:spPr>
          <a:xfrm>
            <a:off x="2881630" y="1982470"/>
            <a:ext cx="0" cy="360553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8"/>
          <p:cNvSpPr txBox="1"/>
          <p:nvPr/>
        </p:nvSpPr>
        <p:spPr>
          <a:xfrm>
            <a:off x="3098165" y="3281680"/>
            <a:ext cx="8002905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业务部门：</a:t>
            </a:r>
            <a:r>
              <a:rPr kumimoji="1" lang="zh-CN" sz="240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产品部</a:t>
            </a:r>
            <a:r>
              <a:rPr kumimoji="1" lang="en-US" altLang="zh-CN" sz="240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-</a:t>
            </a:r>
            <a:r>
              <a:rPr kumimoji="1" lang="zh-CN" altLang="en-US" sz="240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业务服务组</a:t>
            </a:r>
            <a:endParaRPr kumimoji="1" lang="zh-CN" altLang="en-US" sz="24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业务方：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无（业务基建）</a:t>
            </a:r>
            <a:endParaRPr kumimoji="1" lang="zh-CN" altLang="en-US" sz="24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相关方：</a:t>
            </a:r>
            <a:r>
              <a:rPr kumimoji="1" lang="en-US" sz="24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部、大客户部、电销部、美妆组、服务商部</a:t>
            </a:r>
            <a:endParaRPr kumimoji="1" lang="zh-CN" altLang="en-US" sz="24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PD</a:t>
            </a: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</a:t>
            </a:r>
            <a:r>
              <a:rPr kumimoji="1" 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大壮、小鱼</a:t>
            </a:r>
            <a:endParaRPr kumimoji="1" 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PM</a:t>
            </a: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凯</a:t>
            </a:r>
            <a:endParaRPr kumimoji="1" lang="zh-CN" altLang="en-US" sz="24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34629" y="2779276"/>
            <a:ext cx="20485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zh-CN" b="1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——</a:t>
            </a:r>
            <a:r>
              <a:rPr kumimoji="1" lang="zh-CN" altLang="en-US" b="1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主讲人：大壮</a:t>
            </a:r>
            <a:endParaRPr kumimoji="1" lang="en-US" altLang="zh-CN" b="1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34488" y="2074802"/>
            <a:ext cx="1215397" cy="461665"/>
          </a:xfrm>
          <a:prstGeom prst="rect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需求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PK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权限体系</a:t>
            </a:r>
            <a:endParaRPr kumimoji="1"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1433175" cy="122110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项目背景：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CRM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系统现已支持了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个渠道团队服务门店的需求。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随着业务的发展，这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个渠道相互之间既有合作关系，又有竞争关系，但产品落脚点都在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CRM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系统上。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我们经常会收到类似的需求反馈，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例如：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反馈，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美妆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为什么可以看到我的母婴门店？为什么我们不可以看到辖区门店？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服务商反馈，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不可以看到我们的服务商推品的订单，否则分分钟被切掉。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大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反馈，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凭什么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可以看辖区门店，我们不可以看单体店？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。。。。。。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Text Placeholder 33"/>
          <p:cNvSpPr txBox="1"/>
          <p:nvPr/>
        </p:nvSpPr>
        <p:spPr>
          <a:xfrm>
            <a:off x="278130" y="4417695"/>
            <a:ext cx="11433175" cy="16471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主要原因（系统方面）：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现在的CRM系统还是建立在一套销售体系的产品结构，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没有对内容（业务、品牌、区域、门店、团队）进行有效的区分，难以及时响应业务上的需求。</a:t>
            </a:r>
            <a:endParaRPr 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例如，“母婴”与“美妆”业务之间需要完全隔离，由于这点无法实现，导致CRM不得不提供临时解决方案，让BD和美妆BD只能看“库容门店”。虽然解决了门店隔离，但副作用是各自无法对自己辖区内的门店有整体的了解。</a:t>
            </a:r>
            <a:endParaRPr 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1433175" cy="122110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项目背景：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9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月末，</a:t>
            </a: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经过和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个</a:t>
            </a: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渠道团队负责人及团队进行调研之后，各渠道部门的诉求按逻辑规则梳理如下：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130" y="1388745"/>
            <a:ext cx="6520815" cy="1130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1、母婴业务、美妆业务要完全隔离：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母婴渠道团队（BD、大BD、服务商、电销），只能看母婴类门店，只能看母婴门店的订单；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美妆渠道团队（美妆BD、美妆新签BD、美妆电销、美妆新签电销），只能看美妆类门店，只能看美妆门店的订单；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8130" y="2416175"/>
            <a:ext cx="6520815" cy="169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2、服务商业务和BD、大BD业务要完全隔离：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服务商：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门店范围：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可以看到授权区域母婴门店，库容门店可以看详细信息（仅限服务商合作品牌数据，其他AB类数据不开放）；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订单范围：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可以看到授权区域母婴门店的合作品牌B类订单，不可见A类订单和其他B类订单；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拜访小记：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只能看授权区域母婴门店的服务商经理、服务商业务员拜访小记；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495" y="4031615"/>
            <a:ext cx="6521450" cy="288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3、BD、大BD之间，库容门店的B类数据要隔离：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BD：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门店范围：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可以看到辖区母婴门店，库容门店可以看详细信息（包括数据、合作品牌，剔除服务商合作品牌），非库容门店只能看基础信息；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订单范围：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可以看到库容母婴门店的A、B类订单，剔除服务商订单；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拜访小记：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只能看库容门店的BD、电销拜访小记；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大BD：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门店范围：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可以看到辖区母婴门店，库容门店可以看详细信息（包括数据、合作品牌，剔除服务商合作品牌），非库容门店只能看基础信息；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订单范围：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可以看到库容母婴门店的A、B类订单，剔除服务商订单；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拜访小记：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只能看库容门店的大BD、大电销拜访小记；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99580" y="1388745"/>
            <a:ext cx="5126355" cy="1370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4、BD、大BD之间，公海的门店都可以看：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没挂大BD的门店，BD都可以看（包括门店详情、AB订单（剔除服务商订单）、小记）；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没挂BD的门店，大BD都可以看（包括门店详情、AB订单（剔除服务商订单）、小记）；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99580" y="3270885"/>
            <a:ext cx="5126355" cy="1610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5、电销、大电销和B类渠道打配合，A类数据可见：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母婴电销：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门店范围：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可以看到库容母婴门店，库容门店可以看详细信息；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订单范围：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可以看到库容门店的A类订单，库容门店的B类订单，剔除服务商合作品牌订单；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defTabSz="685800">
              <a:lnSpc>
                <a:spcPct val="13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拜访小记：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只能看库容门店的电销、BD拜访小记；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675765" cy="181864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项目背景：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按照以上规则梳理后，各渠道岗位下的门店范围、订单范围、小记范围权限表格。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55" y="1053465"/>
            <a:ext cx="10052685" cy="5539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1433175" cy="16471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项目背景：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130" y="1183005"/>
            <a:ext cx="11583670" cy="33699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基于以上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的梳理内容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产品技术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共同总结并提炼了一套CRM系统的权限体系模型，以用于CRM支撑多团队的数据需求。这套数据权限共分为五层结构：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业务域：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根据行业别来做区分，不同的业务域之间，数据做隔离。例如母婴业务域、美妆业务域，并支持新增业务域。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渠道域：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每个业务域下有对应的渠道销售团队承接市场，不同渠道域之间会有业务上的合作与隔离。例如BD和电销之间有A、B类的合作；但BD和大客户之间有门店的隔离。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职能域：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每个渠道域下，因为各自业务的推进方式，管理要求，会有不同的职能区分。例如BD部有战区经理、省区经理、主管、BD，服务商有服务商主管、经理、服务商业务员等。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数据范围：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每个职能在做业务的时候，根据业务需求，有不同的看数据的范围。例如BD可以看辖区母婴门店，但只能看未挂大BD的门店的详细信息和订单数据；美妆BD只能看库容母婴门店，以及门店的详细信息和订单数据。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使用场景：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每个看数据的范围下，分为查看门店基本信息、查看订单数据、以及做具体的操作三种场景。未来还会随着业务需求，做场景的细化拆分。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1433175" cy="16471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项目背景：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基于以上梳理的内容，产品技术共同总结并提炼了一套CRM系统的权限体系模型，以用于CRM支撑多团队的数据需求。这套数据权限共分为五层结构：</a:t>
            </a:r>
            <a:endParaRPr 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" y="1757680"/>
            <a:ext cx="11269980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78130" y="765175"/>
            <a:ext cx="11433175" cy="16471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项目价值：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快速响应渠道团队之间的合作与竞优关系，避免因划分不清，导致渠道之间的竞争影响客户的体验。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支撑多渠道团队，共同使用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系统服务海拍客客户，但彼此之间可以按照业务的规则做数据的隔离。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、支持一定程度上的规则调整，响应业务的需求变化。例如现在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和大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之间不可以互看门店数据，如果业务规则需要放开，可以通过配置支持；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项目目标：</a:t>
            </a:r>
            <a:endParaRPr lang="zh-CN" altLang="en-US" sz="16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业务基建，没有量化的结果指标，建议以：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产品的迭代周期为考核要求。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、业务规则梳理并落地为考核要求；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42570" y="882650"/>
            <a:ext cx="11433175" cy="152463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核心产品功能：（简述）</a:t>
            </a:r>
            <a:endParaRPr lang="zh-CN" altLang="en-US" sz="1400" b="1" dirty="0">
              <a:solidFill>
                <a:srgbClr val="FA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78130" y="1354455"/>
            <a:ext cx="2159635" cy="9334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业务、渠道配置</a:t>
            </a:r>
            <a:endParaRPr lang="zh-CN" altLang="en-US" b="1"/>
          </a:p>
          <a:p>
            <a:pPr algn="ctr"/>
            <a:r>
              <a:rPr lang="zh-CN" altLang="en-US"/>
              <a:t>（配置团队）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580640" y="1354455"/>
            <a:ext cx="2159635" cy="9334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职能权限配置</a:t>
            </a:r>
            <a:endParaRPr lang="zh-CN" altLang="en-US" b="1"/>
          </a:p>
          <a:p>
            <a:pPr algn="ctr"/>
            <a:r>
              <a:rPr lang="zh-CN" altLang="en-US"/>
              <a:t>（职能的功能权限，与合作互斥关系）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" y="2468245"/>
            <a:ext cx="7349490" cy="301371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4878705" y="1354455"/>
            <a:ext cx="2159635" cy="9334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数据权限配置</a:t>
            </a:r>
            <a:endParaRPr lang="zh-CN" altLang="en-US"/>
          </a:p>
          <a:p>
            <a:pPr algn="ctr"/>
            <a:r>
              <a:rPr lang="zh-CN" altLang="en-US"/>
              <a:t>（能看多少范围）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2468245"/>
            <a:ext cx="5120640" cy="36087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b="47188"/>
          <a:stretch>
            <a:fillRect/>
          </a:stretch>
        </p:blipFill>
        <p:spPr>
          <a:xfrm>
            <a:off x="2190115" y="2388870"/>
            <a:ext cx="3183255" cy="36436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b="46975"/>
          <a:stretch>
            <a:fillRect/>
          </a:stretch>
        </p:blipFill>
        <p:spPr>
          <a:xfrm>
            <a:off x="5645785" y="2407285"/>
            <a:ext cx="3138170" cy="36061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50000" y="3686175"/>
            <a:ext cx="2339975" cy="577215"/>
          </a:xfrm>
          <a:prstGeom prst="rect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开放功能，开放部分内容范围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645150" y="4326255"/>
            <a:ext cx="627380" cy="517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00315" y="4286250"/>
            <a:ext cx="565150" cy="598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645150" y="4990465"/>
            <a:ext cx="3138805" cy="598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按职能开放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rcRect t="33835"/>
          <a:stretch>
            <a:fillRect/>
          </a:stretch>
        </p:blipFill>
        <p:spPr>
          <a:xfrm>
            <a:off x="9551670" y="765175"/>
            <a:ext cx="2310130" cy="5937885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7135495" y="1354455"/>
            <a:ext cx="2159635" cy="9334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功能场景配置</a:t>
            </a:r>
            <a:endParaRPr lang="zh-CN" altLang="en-US" b="1"/>
          </a:p>
          <a:p>
            <a:pPr algn="ctr"/>
            <a:r>
              <a:rPr lang="zh-CN" altLang="en-US"/>
              <a:t>（可用不可用，可看可不看）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551670" y="765175"/>
            <a:ext cx="2310130" cy="4824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按职能开放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115" y="3445510"/>
            <a:ext cx="3182620" cy="1544955"/>
          </a:xfrm>
          <a:prstGeom prst="rect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按业务域、团队，支持查看辖区，但非业务域或非团队服务的门店类型不可见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19" grpId="0" animBg="1"/>
      <p:bldP spid="19" grpId="1" animBg="1"/>
      <p:bldP spid="22" grpId="0" animBg="1"/>
      <p:bldP spid="20" grpId="0" animBg="1"/>
      <p:bldP spid="23" grpId="0" animBg="1"/>
      <p:bldP spid="22" grpId="1" animBg="1"/>
      <p:bldP spid="20" grpId="1" animBg="1"/>
      <p:bldP spid="23" grpId="1" animBg="1"/>
      <p:bldP spid="27" grpId="0" animBg="1"/>
      <p:bldP spid="2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323" y="291246"/>
            <a:ext cx="1325096" cy="4074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818" y="242921"/>
            <a:ext cx="2458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CRM</a:t>
            </a: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权限体系</a:t>
            </a:r>
            <a:endParaRPr kumimoji="1"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42921"/>
            <a:ext cx="138545" cy="520182"/>
          </a:xfrm>
          <a:prstGeom prst="rect">
            <a:avLst/>
          </a:prstGeom>
          <a:solidFill>
            <a:srgbClr val="FA3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Text Placeholder 33"/>
          <p:cNvSpPr txBox="1"/>
          <p:nvPr/>
        </p:nvSpPr>
        <p:spPr>
          <a:xfrm>
            <a:off x="252730" y="905510"/>
            <a:ext cx="5083175" cy="96837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A32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项目计划：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389786" y="2020336"/>
            <a:ext cx="113011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737894" y="1874182"/>
            <a:ext cx="292100" cy="29230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21991" y="1874182"/>
            <a:ext cx="292308" cy="29230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990114" y="1874182"/>
            <a:ext cx="292100" cy="29230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016399" y="1874182"/>
            <a:ext cx="292100" cy="29230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66339" y="1360418"/>
            <a:ext cx="636270" cy="3371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p>
            <a:pPr algn="ctr"/>
            <a:r>
              <a:rPr 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17924" y="1360418"/>
            <a:ext cx="636270" cy="3371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p>
            <a:pPr algn="ctr"/>
            <a:r>
              <a:rPr 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4527" y="1360418"/>
            <a:ext cx="636270" cy="3371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p>
            <a:pPr algn="ctr"/>
            <a:r>
              <a:rPr 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042684" y="1874817"/>
            <a:ext cx="292100" cy="2923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48905" y="1358949"/>
            <a:ext cx="5111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2557" y="1360417"/>
            <a:ext cx="511175" cy="3371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068969" y="1874520"/>
            <a:ext cx="292100" cy="2921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32340" y="1358900"/>
            <a:ext cx="5111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箭头: 五边形 24"/>
          <p:cNvSpPr/>
          <p:nvPr/>
        </p:nvSpPr>
        <p:spPr>
          <a:xfrm>
            <a:off x="2412365" y="4429125"/>
            <a:ext cx="9279255" cy="158750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产品研发预期节奏：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箭头: 五边形 24"/>
          <p:cNvSpPr/>
          <p:nvPr/>
        </p:nvSpPr>
        <p:spPr>
          <a:xfrm>
            <a:off x="622300" y="3027045"/>
            <a:ext cx="1407795" cy="483235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渠道部门权限需求梳理</a:t>
            </a:r>
            <a:r>
              <a:rPr lang="zh-CN" sz="12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（已完成）</a:t>
            </a:r>
            <a:endParaRPr lang="zh-CN" sz="12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4" name="箭头: 五边形 24"/>
          <p:cNvSpPr/>
          <p:nvPr/>
        </p:nvSpPr>
        <p:spPr>
          <a:xfrm>
            <a:off x="4169410" y="5008245"/>
            <a:ext cx="1179830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 font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评审、设计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箭头: 五边形 24"/>
          <p:cNvSpPr/>
          <p:nvPr/>
        </p:nvSpPr>
        <p:spPr>
          <a:xfrm>
            <a:off x="5349240" y="5008245"/>
            <a:ext cx="173418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研发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第一期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箭头: 五边形 24"/>
          <p:cNvSpPr/>
          <p:nvPr/>
        </p:nvSpPr>
        <p:spPr>
          <a:xfrm>
            <a:off x="389890" y="2496185"/>
            <a:ext cx="7343775" cy="181864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产品运营节奏：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1" name="箭头: 五边形 24"/>
          <p:cNvSpPr/>
          <p:nvPr/>
        </p:nvSpPr>
        <p:spPr>
          <a:xfrm>
            <a:off x="2524760" y="5008245"/>
            <a:ext cx="164528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方案设计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箭头: 五边形 24"/>
          <p:cNvSpPr/>
          <p:nvPr/>
        </p:nvSpPr>
        <p:spPr>
          <a:xfrm>
            <a:off x="7083425" y="5008245"/>
            <a:ext cx="198564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第二期</a:t>
            </a: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需要跨开发线支持</a:t>
            </a: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箭头: 五边形 24"/>
          <p:cNvSpPr/>
          <p:nvPr/>
        </p:nvSpPr>
        <p:spPr>
          <a:xfrm>
            <a:off x="2524760" y="5442585"/>
            <a:ext cx="451802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解决辖区门店需求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箭头: 五边形 24"/>
          <p:cNvSpPr/>
          <p:nvPr/>
        </p:nvSpPr>
        <p:spPr>
          <a:xfrm>
            <a:off x="7083425" y="5442585"/>
            <a:ext cx="198564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解决辖区订单需求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箭头: 五边形 24"/>
          <p:cNvSpPr/>
          <p:nvPr/>
        </p:nvSpPr>
        <p:spPr>
          <a:xfrm>
            <a:off x="2030095" y="3027045"/>
            <a:ext cx="1251585" cy="483235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业务确认</a:t>
            </a:r>
            <a:r>
              <a:rPr 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（完成度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75%</a:t>
            </a:r>
            <a:r>
              <a:rPr 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）</a:t>
            </a:r>
            <a:endParaRPr lang="zh-CN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0698379" y="1873885"/>
            <a:ext cx="292100" cy="2921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484280" y="1358265"/>
            <a:ext cx="6661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箭头: 五边形 24"/>
          <p:cNvSpPr/>
          <p:nvPr/>
        </p:nvSpPr>
        <p:spPr>
          <a:xfrm>
            <a:off x="9069070" y="5008245"/>
            <a:ext cx="216725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第三期迭代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箭头: 五边形 24"/>
          <p:cNvSpPr/>
          <p:nvPr/>
        </p:nvSpPr>
        <p:spPr>
          <a:xfrm>
            <a:off x="9069070" y="5442585"/>
            <a:ext cx="2167255" cy="37846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解决服务商业务员和服务商经理打通的需求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箭头: 五边形 24"/>
          <p:cNvSpPr/>
          <p:nvPr/>
        </p:nvSpPr>
        <p:spPr>
          <a:xfrm>
            <a:off x="3282315" y="3027045"/>
            <a:ext cx="4162425" cy="1111250"/>
          </a:xfrm>
          <a:prstGeom prst="homePlate">
            <a:avLst>
              <a:gd name="adj" fmla="val 2071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业务特殊规则梳理：</a:t>
            </a:r>
            <a:endParaRPr lang="zh-CN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门店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携品转网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”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（母婴转美妆、美妆转母婴）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门店服务团队变更（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和大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谁有能力谁做）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门店状态变更（关店、转让、连锁转单体，单体转连锁）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969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06912" y="2605947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谢谢观看！</a:t>
            </a:r>
            <a:endParaRPr kumimoji="1" lang="zh-CN" altLang="en-US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2495</Words>
  <Application>WPS 演示</Application>
  <PresentationFormat>宽屏</PresentationFormat>
  <Paragraphs>186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Neris Thin</vt:lpstr>
      <vt:lpstr>Segoe Print</vt:lpstr>
      <vt:lpstr>Arial Unicode MS</vt:lpstr>
      <vt:lpstr>等线 Light</vt:lpstr>
      <vt:lpstr>等线</vt:lpstr>
      <vt:lpstr>Calibri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关壮</cp:lastModifiedBy>
  <cp:revision>826</cp:revision>
  <dcterms:created xsi:type="dcterms:W3CDTF">2020-03-05T16:10:00Z</dcterms:created>
  <dcterms:modified xsi:type="dcterms:W3CDTF">2020-10-21T07:06:35Z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